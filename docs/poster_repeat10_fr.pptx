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7" r:id="rId2"/>
  </p:sldIdLst>
  <p:sldSz cx="30275213" cy="428037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34"/>
    <p:restoredTop sz="94660"/>
  </p:normalViewPr>
  <p:slideViewPr>
    <p:cSldViewPr snapToGrid="0" snapToObjects="1">
      <p:cViewPr>
        <p:scale>
          <a:sx n="45" d="100"/>
          <a:sy n="45" d="100"/>
        </p:scale>
        <p:origin x="792"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65B7C8-E339-9842-8576-E39EEA12ADBB}" type="datetimeFigureOut">
              <a:rPr kumimoji="1" lang="zh-CN" altLang="en-US" smtClean="0"/>
              <a:t>2026/4/24</a:t>
            </a:fld>
            <a:endParaRPr kumimoji="1" lang="zh-CN" altLang="en-US"/>
          </a:p>
        </p:txBody>
      </p:sp>
      <p:sp>
        <p:nvSpPr>
          <p:cNvPr id="4" name="幻灯片图像占位符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400512-B582-1741-B2E8-7C28A84AA2D2}" type="slidenum">
              <a:rPr kumimoji="1" lang="zh-CN" altLang="en-US" smtClean="0"/>
              <a:t>‹#›</a:t>
            </a:fld>
            <a:endParaRPr kumimoji="1" lang="zh-CN" altLang="en-US"/>
          </a:p>
        </p:txBody>
      </p:sp>
    </p:spTree>
    <p:extLst>
      <p:ext uri="{BB962C8B-B14F-4D97-AF65-F5344CB8AC3E}">
        <p14:creationId xmlns:p14="http://schemas.microsoft.com/office/powerpoint/2010/main" val="40333763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91400512-B582-1741-B2E8-7C28A84AA2D2}" type="slidenum">
              <a:rPr kumimoji="1" lang="zh-CN" altLang="en-US" smtClean="0"/>
              <a:t>1</a:t>
            </a:fld>
            <a:endParaRPr kumimoji="1" lang="zh-CN" altLang="en-US"/>
          </a:p>
        </p:txBody>
      </p:sp>
    </p:spTree>
    <p:extLst>
      <p:ext uri="{BB962C8B-B14F-4D97-AF65-F5344CB8AC3E}">
        <p14:creationId xmlns:p14="http://schemas.microsoft.com/office/powerpoint/2010/main" val="4323799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6EE69-A715-63F7-30E7-43CABB2F6FB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52EC571-CD9D-5F9E-0454-78930F1527FC}"/>
              </a:ext>
            </a:extLst>
          </p:cNvPr>
          <p:cNvSpPr/>
          <p:nvPr/>
        </p:nvSpPr>
        <p:spPr>
          <a:xfrm>
            <a:off x="-571" y="-71586"/>
            <a:ext cx="30275784" cy="4983480"/>
          </a:xfrm>
          <a:prstGeom prst="rect">
            <a:avLst/>
          </a:prstGeom>
          <a:solidFill>
            <a:schemeClr val="accent4">
              <a:lumMod val="60000"/>
              <a:lumOff val="40000"/>
            </a:schemeClr>
          </a:solidFill>
          <a:ln>
            <a:solidFill>
              <a:srgbClr val="102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4" name="TextBox 3">
            <a:extLst>
              <a:ext uri="{FF2B5EF4-FFF2-40B4-BE49-F238E27FC236}">
                <a16:creationId xmlns:a16="http://schemas.microsoft.com/office/drawing/2014/main" id="{040BEB6D-CAF5-0DB2-512A-12BC3634E1A6}"/>
              </a:ext>
            </a:extLst>
          </p:cNvPr>
          <p:cNvSpPr txBox="1"/>
          <p:nvPr/>
        </p:nvSpPr>
        <p:spPr>
          <a:xfrm>
            <a:off x="5633264" y="1262702"/>
            <a:ext cx="20641220" cy="1539845"/>
          </a:xfrm>
          <a:prstGeom prst="rect">
            <a:avLst/>
          </a:prstGeom>
          <a:noFill/>
        </p:spPr>
        <p:txBody>
          <a:bodyPr wrap="square" lIns="36576" tIns="36576" rIns="36576" bIns="36576" anchor="t">
            <a:spAutoFit/>
          </a:bodyPr>
          <a:lstStyle/>
          <a:p>
            <a:pPr algn="l">
              <a:lnSpc>
                <a:spcPct val="115000"/>
              </a:lnSpc>
              <a:spcAft>
                <a:spcPts val="0"/>
              </a:spcAft>
            </a:pPr>
            <a:r>
              <a:rPr sz="8800" b="1" dirty="0">
                <a:solidFill>
                  <a:srgbClr val="FFFFFF"/>
                </a:solidFill>
                <a:latin typeface="+mj-lt"/>
              </a:rPr>
              <a:t>Jumeau numérique de réseau pour SDN</a:t>
            </a:r>
          </a:p>
        </p:txBody>
      </p:sp>
      <p:sp>
        <p:nvSpPr>
          <p:cNvPr id="12" name="Rounded Rectangle 11">
            <a:extLst>
              <a:ext uri="{FF2B5EF4-FFF2-40B4-BE49-F238E27FC236}">
                <a16:creationId xmlns:a16="http://schemas.microsoft.com/office/drawing/2014/main" id="{3930F0A8-C337-1CB8-6187-64CFADFD3FBD}"/>
              </a:ext>
            </a:extLst>
          </p:cNvPr>
          <p:cNvSpPr/>
          <p:nvPr/>
        </p:nvSpPr>
        <p:spPr>
          <a:xfrm>
            <a:off x="81806" y="6275626"/>
            <a:ext cx="14776841" cy="7672686"/>
          </a:xfrm>
          <a:prstGeom prst="roundRect">
            <a:avLst/>
          </a:prstGeom>
          <a:noFill/>
          <a:ln w="12700">
            <a:solidFill>
              <a:srgbClr val="C7D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62B74C6C-DEDD-6729-4430-1C760FADDB13}"/>
              </a:ext>
            </a:extLst>
          </p:cNvPr>
          <p:cNvSpPr txBox="1"/>
          <p:nvPr/>
        </p:nvSpPr>
        <p:spPr>
          <a:xfrm>
            <a:off x="-572" y="5135419"/>
            <a:ext cx="14859219" cy="982385"/>
          </a:xfrm>
          <a:prstGeom prst="rect">
            <a:avLst/>
          </a:prstGeom>
          <a:solidFill>
            <a:schemeClr val="accent4">
              <a:lumMod val="75000"/>
            </a:schemeClr>
          </a:solidFill>
        </p:spPr>
        <p:txBody>
          <a:bodyPr wrap="square" lIns="36576" tIns="36576" rIns="36576" bIns="36576" anchor="t">
            <a:spAutoFit/>
          </a:bodyPr>
          <a:lstStyle/>
          <a:p>
            <a:pPr algn="ctr">
              <a:lnSpc>
                <a:spcPct val="115000"/>
              </a:lnSpc>
              <a:spcAft>
                <a:spcPts val="0"/>
              </a:spcAft>
            </a:pPr>
            <a:r>
              <a:rPr sz="5400" b="1" dirty="0">
                <a:solidFill>
                  <a:schemeClr val="bg1"/>
                </a:solidFill>
                <a:latin typeface="Aptos"/>
              </a:rPr>
              <a:t>PROBLÉMATIQUE ET OBJECTIF</a:t>
            </a:r>
          </a:p>
        </p:txBody>
      </p:sp>
      <p:sp>
        <p:nvSpPr>
          <p:cNvPr id="15" name="TextBox 14">
            <a:extLst>
              <a:ext uri="{FF2B5EF4-FFF2-40B4-BE49-F238E27FC236}">
                <a16:creationId xmlns:a16="http://schemas.microsoft.com/office/drawing/2014/main" id="{C3CB7C75-0AAF-5CA1-CC5D-37E352050221}"/>
              </a:ext>
            </a:extLst>
          </p:cNvPr>
          <p:cNvSpPr txBox="1"/>
          <p:nvPr/>
        </p:nvSpPr>
        <p:spPr>
          <a:xfrm>
            <a:off x="914399" y="6934276"/>
            <a:ext cx="13624560" cy="7014036"/>
          </a:xfrm>
          <a:prstGeom prst="rect">
            <a:avLst/>
          </a:prstGeom>
          <a:noFill/>
        </p:spPr>
        <p:txBody>
          <a:bodyPr wrap="square" lIns="36576" tIns="36576" rIns="36576" bIns="36576" anchor="t">
            <a:spAutoFit/>
          </a:bodyPr>
          <a:lstStyle/>
          <a:p>
            <a:pPr marL="285750" indent="-285750">
              <a:buFont typeface="Arial" panose="020B0604020202020204" pitchFamily="34" charset="0"/>
              <a:buChar char="•"/>
            </a:pPr>
            <a:r>
              <a:rPr lang="fr-FR" altLang="zh-CN" sz="3200" dirty="0"/>
              <a:t>Le jumeau numérique détecte-t-il de façon fiable les pannes et les reprises de lien ?</a:t>
            </a:r>
          </a:p>
          <a:p>
            <a:pPr marL="285750" indent="-285750">
              <a:buFont typeface="Arial" panose="020B0604020202020204" pitchFamily="34" charset="0"/>
              <a:buChar char="•"/>
            </a:pPr>
            <a:r>
              <a:rPr lang="fr-FR" altLang="zh-CN" sz="3200" dirty="0"/>
              <a:t>Quels sont les délais de détection et de reprise observés expérimentalement ?</a:t>
            </a:r>
          </a:p>
          <a:p>
            <a:pPr marL="285750" indent="-285750">
              <a:buFont typeface="Arial" panose="020B0604020202020204" pitchFamily="34" charset="0"/>
              <a:buChar char="•"/>
            </a:pPr>
            <a:r>
              <a:rPr lang="fr-FR" altLang="zh-CN" sz="3200" dirty="0"/>
              <a:t>Dans quelle mesure le trafic de fond affecte-t-il ces délais ?</a:t>
            </a:r>
          </a:p>
          <a:p>
            <a:pPr marL="285750" indent="-285750">
              <a:buFont typeface="Arial" panose="020B0604020202020204" pitchFamily="34" charset="0"/>
              <a:buChar char="•"/>
            </a:pPr>
            <a:r>
              <a:rPr lang="fr-FR" altLang="zh-CN" sz="3200" dirty="0"/>
              <a:t>Le système reste-t-il robuste face à des événements successifs ou multiples ?</a:t>
            </a:r>
          </a:p>
          <a:p>
            <a:pPr marL="285750" indent="-285750">
              <a:buFont typeface="Arial" panose="020B0604020202020204" pitchFamily="34" charset="0"/>
              <a:buChar char="•"/>
            </a:pPr>
            <a:r>
              <a:rPr lang="fr-FR" altLang="zh-CN" sz="3200" dirty="0"/>
              <a:t>Comment le paramètre de polling influence-t-il la réactivité du système ?</a:t>
            </a:r>
          </a:p>
          <a:p>
            <a:pPr marL="285750" indent="-285750">
              <a:buFont typeface="Arial" panose="020B0604020202020204" pitchFamily="34" charset="0"/>
              <a:buChar char="•"/>
            </a:pPr>
            <a:r>
              <a:rPr lang="fr-FR" altLang="zh-CN" sz="3200" dirty="0"/>
              <a:t>Le jumeau distingue-t-il correctement une panne physique d'un défaut d'observation ?</a:t>
            </a:r>
          </a:p>
          <a:p>
            <a:pPr marL="285750" indent="-285750">
              <a:buFont typeface="Arial" panose="020B0604020202020204" pitchFamily="34" charset="0"/>
              <a:buChar char="•"/>
            </a:pPr>
            <a:endParaRPr lang="fr-FR" altLang="zh-CN" sz="3200" dirty="0"/>
          </a:p>
          <a:p>
            <a:r>
              <a:rPr lang="fr-FR" altLang="zh-CN" sz="3200" dirty="0"/>
              <a:t>Dans ce travail, nous proposons un prototype de jumeau numérique pour réseau SDN, capable de maintenir une représentation structurée du réseau, d'identifier les changements d'état par comparaison temporelle et de produire des événements interprétables dans un cadre expérimental contrôlé.</a:t>
            </a:r>
          </a:p>
          <a:p>
            <a:pPr algn="l">
              <a:lnSpc>
                <a:spcPct val="115000"/>
              </a:lnSpc>
              <a:spcAft>
                <a:spcPts val="0"/>
              </a:spcAft>
            </a:pPr>
            <a:endParaRPr sz="3200" b="0" dirty="0">
              <a:solidFill>
                <a:schemeClr val="bg1"/>
              </a:solidFill>
              <a:latin typeface="Aptos"/>
            </a:endParaRPr>
          </a:p>
        </p:txBody>
      </p:sp>
      <p:sp>
        <p:nvSpPr>
          <p:cNvPr id="107" name="Rectangle 106">
            <a:extLst>
              <a:ext uri="{FF2B5EF4-FFF2-40B4-BE49-F238E27FC236}">
                <a16:creationId xmlns:a16="http://schemas.microsoft.com/office/drawing/2014/main" id="{6C12DF82-6DF0-37CF-50AD-AC45FEF50E37}"/>
              </a:ext>
            </a:extLst>
          </p:cNvPr>
          <p:cNvSpPr/>
          <p:nvPr/>
        </p:nvSpPr>
        <p:spPr>
          <a:xfrm>
            <a:off x="0" y="42131188"/>
            <a:ext cx="30275784" cy="671875"/>
          </a:xfrm>
          <a:prstGeom prst="rect">
            <a:avLst/>
          </a:prstGeom>
          <a:solidFill>
            <a:schemeClr val="accent4">
              <a:lumMod val="60000"/>
              <a:lumOff val="40000"/>
            </a:schemeClr>
          </a:solidFill>
          <a:ln>
            <a:solidFill>
              <a:srgbClr val="153E7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1" name="图片 110">
            <a:extLst>
              <a:ext uri="{FF2B5EF4-FFF2-40B4-BE49-F238E27FC236}">
                <a16:creationId xmlns:a16="http://schemas.microsoft.com/office/drawing/2014/main" id="{0C67FEDF-0BED-7CCD-4288-66D8C78823AA}"/>
              </a:ext>
            </a:extLst>
          </p:cNvPr>
          <p:cNvPicPr>
            <a:picLocks noChangeAspect="1"/>
          </p:cNvPicPr>
          <p:nvPr/>
        </p:nvPicPr>
        <p:blipFill>
          <a:blip r:embed="rId3"/>
          <a:stretch>
            <a:fillRect/>
          </a:stretch>
        </p:blipFill>
        <p:spPr>
          <a:xfrm>
            <a:off x="24593823" y="-126450"/>
            <a:ext cx="5955136" cy="2553313"/>
          </a:xfrm>
          <a:prstGeom prst="rect">
            <a:avLst/>
          </a:prstGeom>
        </p:spPr>
      </p:pic>
      <p:sp>
        <p:nvSpPr>
          <p:cNvPr id="112" name="文本框 111">
            <a:extLst>
              <a:ext uri="{FF2B5EF4-FFF2-40B4-BE49-F238E27FC236}">
                <a16:creationId xmlns:a16="http://schemas.microsoft.com/office/drawing/2014/main" id="{77D1A190-80C7-D511-2919-42166E533599}"/>
              </a:ext>
            </a:extLst>
          </p:cNvPr>
          <p:cNvSpPr txBox="1"/>
          <p:nvPr/>
        </p:nvSpPr>
        <p:spPr>
          <a:xfrm>
            <a:off x="11420385" y="3275637"/>
            <a:ext cx="9015983" cy="1200329"/>
          </a:xfrm>
          <a:prstGeom prst="rect">
            <a:avLst/>
          </a:prstGeom>
          <a:noFill/>
        </p:spPr>
        <p:txBody>
          <a:bodyPr wrap="square" rtlCol="0">
            <a:spAutoFit/>
          </a:bodyPr>
          <a:lstStyle/>
          <a:p>
            <a:r>
              <a:rPr kumimoji="1" lang="en-US" altLang="zh-CN" sz="3600" b="1" dirty="0" err="1">
                <a:solidFill>
                  <a:schemeClr val="bg1"/>
                </a:solidFill>
              </a:rPr>
              <a:t>Étudiantes</a:t>
            </a:r>
            <a:r>
              <a:rPr kumimoji="1" lang="en-US" altLang="zh-CN" sz="3600" b="1" dirty="0">
                <a:solidFill>
                  <a:schemeClr val="bg1"/>
                </a:solidFill>
              </a:rPr>
              <a:t> : CHEN </a:t>
            </a:r>
            <a:r>
              <a:rPr kumimoji="1" lang="en-US" altLang="zh-CN" sz="3600" b="1" dirty="0" err="1">
                <a:solidFill>
                  <a:schemeClr val="bg1"/>
                </a:solidFill>
              </a:rPr>
              <a:t>Yumeng</a:t>
            </a:r>
            <a:r>
              <a:rPr kumimoji="1" lang="en-US" altLang="zh-CN" sz="3600" b="1" dirty="0">
                <a:solidFill>
                  <a:schemeClr val="bg1"/>
                </a:solidFill>
              </a:rPr>
              <a:t> &amp; DONG Yujing</a:t>
            </a:r>
          </a:p>
          <a:p>
            <a:r>
              <a:rPr kumimoji="1" lang="en-US" altLang="zh-CN" sz="3600" b="1" dirty="0" err="1">
                <a:solidFill>
                  <a:schemeClr val="bg1"/>
                </a:solidFill>
              </a:rPr>
              <a:t>Encadrant</a:t>
            </a:r>
            <a:r>
              <a:rPr kumimoji="1" lang="en-US" altLang="zh-CN" sz="3600" b="1" dirty="0">
                <a:solidFill>
                  <a:schemeClr val="bg1"/>
                </a:solidFill>
              </a:rPr>
              <a:t> : Guillaume BEDUNEAU</a:t>
            </a:r>
            <a:endParaRPr kumimoji="1" lang="zh-CN" altLang="en-US" sz="3600" b="1" dirty="0">
              <a:solidFill>
                <a:schemeClr val="bg1"/>
              </a:solidFill>
            </a:endParaRPr>
          </a:p>
        </p:txBody>
      </p:sp>
      <p:sp>
        <p:nvSpPr>
          <p:cNvPr id="8" name="TextBox 13">
            <a:extLst>
              <a:ext uri="{FF2B5EF4-FFF2-40B4-BE49-F238E27FC236}">
                <a16:creationId xmlns:a16="http://schemas.microsoft.com/office/drawing/2014/main" id="{F9750A17-9438-B92C-EE65-B0068C7CFD48}"/>
              </a:ext>
            </a:extLst>
          </p:cNvPr>
          <p:cNvSpPr txBox="1"/>
          <p:nvPr/>
        </p:nvSpPr>
        <p:spPr>
          <a:xfrm>
            <a:off x="15415993" y="5135280"/>
            <a:ext cx="14859219" cy="982385"/>
          </a:xfrm>
          <a:prstGeom prst="rect">
            <a:avLst/>
          </a:prstGeom>
          <a:solidFill>
            <a:schemeClr val="accent4">
              <a:lumMod val="75000"/>
            </a:schemeClr>
          </a:solidFill>
        </p:spPr>
        <p:txBody>
          <a:bodyPr wrap="square" lIns="36576" tIns="36576" rIns="36576" bIns="36576" anchor="t">
            <a:spAutoFit/>
          </a:bodyPr>
          <a:lstStyle/>
          <a:p>
            <a:pPr algn="ctr">
              <a:lnSpc>
                <a:spcPct val="115000"/>
              </a:lnSpc>
              <a:spcAft>
                <a:spcPts val="0"/>
              </a:spcAft>
            </a:pPr>
            <a:r>
              <a:rPr lang="en-US" sz="5400" b="1" dirty="0">
                <a:solidFill>
                  <a:schemeClr val="bg1"/>
                </a:solidFill>
                <a:latin typeface="Aptos"/>
              </a:rPr>
              <a:t>ARCHITECTURE DU SYSTÈME</a:t>
            </a:r>
            <a:endParaRPr sz="5400" b="1" dirty="0">
              <a:solidFill>
                <a:schemeClr val="bg1"/>
              </a:solidFill>
              <a:latin typeface="Aptos"/>
            </a:endParaRPr>
          </a:p>
        </p:txBody>
      </p:sp>
      <p:sp>
        <p:nvSpPr>
          <p:cNvPr id="11" name="TextBox 13">
            <a:extLst>
              <a:ext uri="{FF2B5EF4-FFF2-40B4-BE49-F238E27FC236}">
                <a16:creationId xmlns:a16="http://schemas.microsoft.com/office/drawing/2014/main" id="{8A603DA9-FEB9-A62F-7C86-C24C36D27E6A}"/>
              </a:ext>
            </a:extLst>
          </p:cNvPr>
          <p:cNvSpPr txBox="1"/>
          <p:nvPr/>
        </p:nvSpPr>
        <p:spPr>
          <a:xfrm>
            <a:off x="18912291" y="34288643"/>
            <a:ext cx="11362922" cy="982385"/>
          </a:xfrm>
          <a:prstGeom prst="rect">
            <a:avLst/>
          </a:prstGeom>
          <a:solidFill>
            <a:schemeClr val="accent4">
              <a:lumMod val="75000"/>
            </a:schemeClr>
          </a:solidFill>
        </p:spPr>
        <p:txBody>
          <a:bodyPr wrap="square" lIns="36576" tIns="36576" rIns="36576" bIns="36576" anchor="t">
            <a:spAutoFit/>
          </a:bodyPr>
          <a:lstStyle/>
          <a:p>
            <a:pPr algn="ctr">
              <a:lnSpc>
                <a:spcPct val="115000"/>
              </a:lnSpc>
              <a:spcAft>
                <a:spcPts val="0"/>
              </a:spcAft>
            </a:pPr>
            <a:r>
              <a:rPr lang="en-US" sz="5400" b="1" dirty="0">
                <a:solidFill>
                  <a:schemeClr val="bg1"/>
                </a:solidFill>
                <a:latin typeface="Aptos"/>
              </a:rPr>
              <a:t>TOPOLOGIE EXPÉRIMENTAL</a:t>
            </a:r>
            <a:endParaRPr sz="5400" b="1" dirty="0">
              <a:solidFill>
                <a:schemeClr val="bg1"/>
              </a:solidFill>
              <a:latin typeface="Aptos"/>
            </a:endParaRPr>
          </a:p>
        </p:txBody>
      </p:sp>
      <p:sp>
        <p:nvSpPr>
          <p:cNvPr id="115" name="TextBox 13">
            <a:extLst>
              <a:ext uri="{FF2B5EF4-FFF2-40B4-BE49-F238E27FC236}">
                <a16:creationId xmlns:a16="http://schemas.microsoft.com/office/drawing/2014/main" id="{2C8E3DF5-7BA1-CB6D-0DD9-E6305090D9E5}"/>
              </a:ext>
            </a:extLst>
          </p:cNvPr>
          <p:cNvSpPr txBox="1"/>
          <p:nvPr/>
        </p:nvSpPr>
        <p:spPr>
          <a:xfrm>
            <a:off x="0" y="14118149"/>
            <a:ext cx="20538831" cy="982385"/>
          </a:xfrm>
          <a:prstGeom prst="rect">
            <a:avLst/>
          </a:prstGeom>
          <a:solidFill>
            <a:schemeClr val="accent4">
              <a:lumMod val="75000"/>
            </a:schemeClr>
          </a:solidFill>
        </p:spPr>
        <p:txBody>
          <a:bodyPr wrap="square" lIns="36576" tIns="36576" rIns="36576" bIns="36576" anchor="t">
            <a:spAutoFit/>
          </a:bodyPr>
          <a:lstStyle/>
          <a:p>
            <a:pPr algn="ctr">
              <a:lnSpc>
                <a:spcPct val="115000"/>
              </a:lnSpc>
              <a:spcAft>
                <a:spcPts val="0"/>
              </a:spcAft>
            </a:pPr>
            <a:r>
              <a:rPr lang="fr-FR" sz="5400" b="1" dirty="0">
                <a:solidFill>
                  <a:schemeClr val="bg1"/>
                </a:solidFill>
                <a:latin typeface="Aptos"/>
              </a:rPr>
              <a:t>RÉSULTATS PRINCIPAUX</a:t>
            </a:r>
            <a:endParaRPr sz="5400" b="1" dirty="0">
              <a:solidFill>
                <a:schemeClr val="bg1"/>
              </a:solidFill>
              <a:latin typeface="Aptos"/>
            </a:endParaRPr>
          </a:p>
        </p:txBody>
      </p:sp>
      <p:pic>
        <p:nvPicPr>
          <p:cNvPr id="119" name="图片 118">
            <a:extLst>
              <a:ext uri="{FF2B5EF4-FFF2-40B4-BE49-F238E27FC236}">
                <a16:creationId xmlns:a16="http://schemas.microsoft.com/office/drawing/2014/main" id="{9ACA202D-6EB1-1EE9-DBBA-90110D7B628C}"/>
              </a:ext>
            </a:extLst>
          </p:cNvPr>
          <p:cNvPicPr>
            <a:picLocks noChangeAspect="1"/>
          </p:cNvPicPr>
          <p:nvPr/>
        </p:nvPicPr>
        <p:blipFill>
          <a:blip r:embed="rId4"/>
          <a:stretch>
            <a:fillRect/>
          </a:stretch>
        </p:blipFill>
        <p:spPr>
          <a:xfrm>
            <a:off x="81807" y="15309959"/>
            <a:ext cx="17940156" cy="7440133"/>
          </a:xfrm>
          <a:prstGeom prst="rect">
            <a:avLst/>
          </a:prstGeom>
        </p:spPr>
      </p:pic>
      <p:pic>
        <p:nvPicPr>
          <p:cNvPr id="123" name="图片 122">
            <a:extLst>
              <a:ext uri="{FF2B5EF4-FFF2-40B4-BE49-F238E27FC236}">
                <a16:creationId xmlns:a16="http://schemas.microsoft.com/office/drawing/2014/main" id="{410F8B88-C96A-0316-3657-419B14FC85D6}"/>
              </a:ext>
            </a:extLst>
          </p:cNvPr>
          <p:cNvPicPr>
            <a:picLocks noChangeAspect="1"/>
          </p:cNvPicPr>
          <p:nvPr/>
        </p:nvPicPr>
        <p:blipFill>
          <a:blip r:embed="rId5"/>
          <a:stretch>
            <a:fillRect/>
          </a:stretch>
        </p:blipFill>
        <p:spPr>
          <a:xfrm>
            <a:off x="15415993" y="6275625"/>
            <a:ext cx="14482115" cy="7672685"/>
          </a:xfrm>
          <a:prstGeom prst="rect">
            <a:avLst/>
          </a:prstGeom>
        </p:spPr>
      </p:pic>
      <p:grpSp>
        <p:nvGrpSpPr>
          <p:cNvPr id="153" name="组合 152">
            <a:extLst>
              <a:ext uri="{FF2B5EF4-FFF2-40B4-BE49-F238E27FC236}">
                <a16:creationId xmlns:a16="http://schemas.microsoft.com/office/drawing/2014/main" id="{301624D5-BCB9-6B7B-6805-B037A38ACC42}"/>
              </a:ext>
            </a:extLst>
          </p:cNvPr>
          <p:cNvGrpSpPr/>
          <p:nvPr/>
        </p:nvGrpSpPr>
        <p:grpSpPr>
          <a:xfrm>
            <a:off x="18175053" y="16575892"/>
            <a:ext cx="2651760" cy="5729681"/>
            <a:chOff x="18175053" y="17580014"/>
            <a:chExt cx="2651760" cy="5729681"/>
          </a:xfrm>
        </p:grpSpPr>
        <p:grpSp>
          <p:nvGrpSpPr>
            <p:cNvPr id="150" name="组合 149">
              <a:extLst>
                <a:ext uri="{FF2B5EF4-FFF2-40B4-BE49-F238E27FC236}">
                  <a16:creationId xmlns:a16="http://schemas.microsoft.com/office/drawing/2014/main" id="{63761E33-7C12-CB53-CD66-305F7F2B1BAC}"/>
                </a:ext>
              </a:extLst>
            </p:cNvPr>
            <p:cNvGrpSpPr/>
            <p:nvPr/>
          </p:nvGrpSpPr>
          <p:grpSpPr>
            <a:xfrm>
              <a:off x="18175053" y="17580014"/>
              <a:ext cx="2651760" cy="1732995"/>
              <a:chOff x="18175053" y="17580014"/>
              <a:chExt cx="2651760" cy="1732995"/>
            </a:xfrm>
          </p:grpSpPr>
          <p:sp>
            <p:nvSpPr>
              <p:cNvPr id="125" name="Rounded Rectangle 59">
                <a:extLst>
                  <a:ext uri="{FF2B5EF4-FFF2-40B4-BE49-F238E27FC236}">
                    <a16:creationId xmlns:a16="http://schemas.microsoft.com/office/drawing/2014/main" id="{B4FE83CB-9374-EA48-C4B6-4376D1307E03}"/>
                  </a:ext>
                </a:extLst>
              </p:cNvPr>
              <p:cNvSpPr/>
              <p:nvPr/>
            </p:nvSpPr>
            <p:spPr>
              <a:xfrm>
                <a:off x="18175053" y="17580014"/>
                <a:ext cx="2159391" cy="1732995"/>
              </a:xfrm>
              <a:prstGeom prst="roundRect">
                <a:avLst/>
              </a:prstGeom>
              <a:solidFill>
                <a:srgbClr val="EEF4FA"/>
              </a:solidFill>
              <a:ln w="12700">
                <a:solidFill>
                  <a:srgbClr val="BF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TextBox 60">
                <a:extLst>
                  <a:ext uri="{FF2B5EF4-FFF2-40B4-BE49-F238E27FC236}">
                    <a16:creationId xmlns:a16="http://schemas.microsoft.com/office/drawing/2014/main" id="{819D3C3C-B401-D582-0FBD-0226E699E0E8}"/>
                  </a:ext>
                </a:extLst>
              </p:cNvPr>
              <p:cNvSpPr txBox="1"/>
              <p:nvPr/>
            </p:nvSpPr>
            <p:spPr>
              <a:xfrm>
                <a:off x="18248205" y="17644023"/>
                <a:ext cx="2505456" cy="477631"/>
              </a:xfrm>
              <a:prstGeom prst="rect">
                <a:avLst/>
              </a:prstGeom>
              <a:noFill/>
            </p:spPr>
            <p:txBody>
              <a:bodyPr wrap="square" lIns="36576" tIns="36576" rIns="36576" bIns="36576" anchor="t">
                <a:spAutoFit/>
              </a:bodyPr>
              <a:lstStyle/>
              <a:p>
                <a:pPr algn="l">
                  <a:lnSpc>
                    <a:spcPct val="115000"/>
                  </a:lnSpc>
                  <a:spcAft>
                    <a:spcPts val="0"/>
                  </a:spcAft>
                </a:pPr>
                <a:r>
                  <a:rPr sz="2400" b="1" dirty="0">
                    <a:solidFill>
                      <a:srgbClr val="5C6F7E"/>
                    </a:solidFill>
                    <a:latin typeface="Aptos"/>
                  </a:rPr>
                  <a:t>DETECTION</a:t>
                </a:r>
              </a:p>
            </p:txBody>
          </p:sp>
          <p:sp>
            <p:nvSpPr>
              <p:cNvPr id="127" name="TextBox 61">
                <a:extLst>
                  <a:ext uri="{FF2B5EF4-FFF2-40B4-BE49-F238E27FC236}">
                    <a16:creationId xmlns:a16="http://schemas.microsoft.com/office/drawing/2014/main" id="{D9396D7B-9AAF-FF91-4237-943E666A546A}"/>
                  </a:ext>
                </a:extLst>
              </p:cNvPr>
              <p:cNvSpPr txBox="1"/>
              <p:nvPr/>
            </p:nvSpPr>
            <p:spPr>
              <a:xfrm>
                <a:off x="18248205" y="18087535"/>
                <a:ext cx="2505456" cy="612284"/>
              </a:xfrm>
              <a:prstGeom prst="rect">
                <a:avLst/>
              </a:prstGeom>
              <a:noFill/>
            </p:spPr>
            <p:txBody>
              <a:bodyPr wrap="square" lIns="36576" tIns="36576" rIns="36576" bIns="36576" anchor="t">
                <a:spAutoFit/>
              </a:bodyPr>
              <a:lstStyle/>
              <a:p>
                <a:pPr algn="l">
                  <a:lnSpc>
                    <a:spcPct val="115000"/>
                  </a:lnSpc>
                  <a:spcAft>
                    <a:spcPts val="0"/>
                  </a:spcAft>
                </a:pPr>
                <a:r>
                  <a:rPr sz="3200" b="1" dirty="0">
                    <a:solidFill>
                      <a:srgbClr val="243746"/>
                    </a:solidFill>
                    <a:latin typeface="Aptos"/>
                  </a:rPr>
                  <a:t>0.458 s</a:t>
                </a:r>
              </a:p>
            </p:txBody>
          </p:sp>
          <p:sp>
            <p:nvSpPr>
              <p:cNvPr id="128" name="TextBox 62">
                <a:extLst>
                  <a:ext uri="{FF2B5EF4-FFF2-40B4-BE49-F238E27FC236}">
                    <a16:creationId xmlns:a16="http://schemas.microsoft.com/office/drawing/2014/main" id="{A385DC7A-2181-F2DB-6C34-E365B213AEFB}"/>
                  </a:ext>
                </a:extLst>
              </p:cNvPr>
              <p:cNvSpPr txBox="1"/>
              <p:nvPr/>
            </p:nvSpPr>
            <p:spPr>
              <a:xfrm>
                <a:off x="18321357" y="18658325"/>
                <a:ext cx="2505456" cy="544957"/>
              </a:xfrm>
              <a:prstGeom prst="rect">
                <a:avLst/>
              </a:prstGeom>
              <a:noFill/>
            </p:spPr>
            <p:txBody>
              <a:bodyPr wrap="square" lIns="36576" tIns="36576" rIns="36576" bIns="36576" anchor="t">
                <a:spAutoFit/>
              </a:bodyPr>
              <a:lstStyle/>
              <a:p>
                <a:pPr algn="l">
                  <a:lnSpc>
                    <a:spcPct val="115000"/>
                  </a:lnSpc>
                  <a:spcAft>
                    <a:spcPts val="0"/>
                  </a:spcAft>
                </a:pPr>
                <a:r>
                  <a:rPr sz="2800" b="0" dirty="0">
                    <a:solidFill>
                      <a:srgbClr val="5C6F7E"/>
                    </a:solidFill>
                    <a:latin typeface="Aptos"/>
                  </a:rPr>
                  <a:t>sans </a:t>
                </a:r>
                <a:r>
                  <a:rPr sz="2800" b="0" dirty="0" err="1">
                    <a:solidFill>
                      <a:srgbClr val="5C6F7E"/>
                    </a:solidFill>
                    <a:latin typeface="Aptos"/>
                  </a:rPr>
                  <a:t>trafic</a:t>
                </a:r>
                <a:endParaRPr sz="2800" b="0" dirty="0">
                  <a:solidFill>
                    <a:srgbClr val="5C6F7E"/>
                  </a:solidFill>
                  <a:latin typeface="Aptos"/>
                </a:endParaRPr>
              </a:p>
            </p:txBody>
          </p:sp>
        </p:grpSp>
        <p:grpSp>
          <p:nvGrpSpPr>
            <p:cNvPr id="151" name="组合 150">
              <a:extLst>
                <a:ext uri="{FF2B5EF4-FFF2-40B4-BE49-F238E27FC236}">
                  <a16:creationId xmlns:a16="http://schemas.microsoft.com/office/drawing/2014/main" id="{E6C2AB87-A884-3AC0-3ED6-9447AAFE6A71}"/>
                </a:ext>
              </a:extLst>
            </p:cNvPr>
            <p:cNvGrpSpPr/>
            <p:nvPr/>
          </p:nvGrpSpPr>
          <p:grpSpPr>
            <a:xfrm>
              <a:off x="18175053" y="19578357"/>
              <a:ext cx="2651760" cy="1732995"/>
              <a:chOff x="18175053" y="19578357"/>
              <a:chExt cx="2651760" cy="1732995"/>
            </a:xfrm>
          </p:grpSpPr>
          <p:sp>
            <p:nvSpPr>
              <p:cNvPr id="129" name="Rounded Rectangle 59">
                <a:extLst>
                  <a:ext uri="{FF2B5EF4-FFF2-40B4-BE49-F238E27FC236}">
                    <a16:creationId xmlns:a16="http://schemas.microsoft.com/office/drawing/2014/main" id="{FB550778-42E8-00B1-20F2-31C5418638F4}"/>
                  </a:ext>
                </a:extLst>
              </p:cNvPr>
              <p:cNvSpPr/>
              <p:nvPr/>
            </p:nvSpPr>
            <p:spPr>
              <a:xfrm>
                <a:off x="18175053" y="19578357"/>
                <a:ext cx="2159391" cy="1732995"/>
              </a:xfrm>
              <a:prstGeom prst="roundRect">
                <a:avLst/>
              </a:prstGeom>
              <a:solidFill>
                <a:srgbClr val="EEF4FA"/>
              </a:solidFill>
              <a:ln w="12700">
                <a:solidFill>
                  <a:srgbClr val="BF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TextBox 60">
                <a:extLst>
                  <a:ext uri="{FF2B5EF4-FFF2-40B4-BE49-F238E27FC236}">
                    <a16:creationId xmlns:a16="http://schemas.microsoft.com/office/drawing/2014/main" id="{D3B11FC6-AB8F-3C1A-8F07-6DB18C43F8C6}"/>
                  </a:ext>
                </a:extLst>
              </p:cNvPr>
              <p:cNvSpPr txBox="1"/>
              <p:nvPr/>
            </p:nvSpPr>
            <p:spPr>
              <a:xfrm>
                <a:off x="18248205" y="19642366"/>
                <a:ext cx="2505456" cy="477631"/>
              </a:xfrm>
              <a:prstGeom prst="rect">
                <a:avLst/>
              </a:prstGeom>
              <a:noFill/>
            </p:spPr>
            <p:txBody>
              <a:bodyPr wrap="square" lIns="36576" tIns="36576" rIns="36576" bIns="36576" anchor="t">
                <a:spAutoFit/>
              </a:bodyPr>
              <a:lstStyle/>
              <a:p>
                <a:pPr algn="l">
                  <a:lnSpc>
                    <a:spcPct val="115000"/>
                  </a:lnSpc>
                  <a:spcAft>
                    <a:spcPts val="0"/>
                  </a:spcAft>
                </a:pPr>
                <a:r>
                  <a:rPr sz="2400" b="1" dirty="0">
                    <a:solidFill>
                      <a:srgbClr val="5C6F7E"/>
                    </a:solidFill>
                    <a:latin typeface="Aptos"/>
                  </a:rPr>
                  <a:t>DETECTION</a:t>
                </a:r>
              </a:p>
            </p:txBody>
          </p:sp>
          <p:sp>
            <p:nvSpPr>
              <p:cNvPr id="131" name="TextBox 61">
                <a:extLst>
                  <a:ext uri="{FF2B5EF4-FFF2-40B4-BE49-F238E27FC236}">
                    <a16:creationId xmlns:a16="http://schemas.microsoft.com/office/drawing/2014/main" id="{2E9FA0C3-E8B0-98D7-F616-F3398AEA136A}"/>
                  </a:ext>
                </a:extLst>
              </p:cNvPr>
              <p:cNvSpPr txBox="1"/>
              <p:nvPr/>
            </p:nvSpPr>
            <p:spPr>
              <a:xfrm>
                <a:off x="18248205" y="20085878"/>
                <a:ext cx="2505456" cy="612284"/>
              </a:xfrm>
              <a:prstGeom prst="rect">
                <a:avLst/>
              </a:prstGeom>
              <a:noFill/>
            </p:spPr>
            <p:txBody>
              <a:bodyPr wrap="square" lIns="36576" tIns="36576" rIns="36576" bIns="36576" anchor="t">
                <a:spAutoFit/>
              </a:bodyPr>
              <a:lstStyle/>
              <a:p>
                <a:pPr algn="l">
                  <a:lnSpc>
                    <a:spcPct val="115000"/>
                  </a:lnSpc>
                  <a:spcAft>
                    <a:spcPts val="0"/>
                  </a:spcAft>
                </a:pPr>
                <a:r>
                  <a:rPr lang="en-US" altLang="zh-CN" sz="3200" b="1" dirty="0">
                    <a:solidFill>
                      <a:srgbClr val="243746"/>
                    </a:solidFill>
                    <a:latin typeface="Aptos"/>
                  </a:rPr>
                  <a:t>1.144</a:t>
                </a:r>
                <a:r>
                  <a:rPr sz="3200" b="1" dirty="0">
                    <a:solidFill>
                      <a:srgbClr val="243746"/>
                    </a:solidFill>
                    <a:latin typeface="Aptos"/>
                  </a:rPr>
                  <a:t> s</a:t>
                </a:r>
              </a:p>
            </p:txBody>
          </p:sp>
          <p:sp>
            <p:nvSpPr>
              <p:cNvPr id="132" name="TextBox 62">
                <a:extLst>
                  <a:ext uri="{FF2B5EF4-FFF2-40B4-BE49-F238E27FC236}">
                    <a16:creationId xmlns:a16="http://schemas.microsoft.com/office/drawing/2014/main" id="{70661602-6A80-1833-3DDC-47916F428DF8}"/>
                  </a:ext>
                </a:extLst>
              </p:cNvPr>
              <p:cNvSpPr txBox="1"/>
              <p:nvPr/>
            </p:nvSpPr>
            <p:spPr>
              <a:xfrm>
                <a:off x="18321357" y="20656668"/>
                <a:ext cx="2505456" cy="544957"/>
              </a:xfrm>
              <a:prstGeom prst="rect">
                <a:avLst/>
              </a:prstGeom>
              <a:noFill/>
            </p:spPr>
            <p:txBody>
              <a:bodyPr wrap="square" lIns="36576" tIns="36576" rIns="36576" bIns="36576" anchor="t">
                <a:spAutoFit/>
              </a:bodyPr>
              <a:lstStyle/>
              <a:p>
                <a:pPr algn="l">
                  <a:lnSpc>
                    <a:spcPct val="115000"/>
                  </a:lnSpc>
                  <a:spcAft>
                    <a:spcPts val="0"/>
                  </a:spcAft>
                </a:pPr>
                <a:r>
                  <a:rPr lang="en-US" altLang="zh-CN" sz="2800" b="0" dirty="0">
                    <a:solidFill>
                      <a:srgbClr val="5C6F7E"/>
                    </a:solidFill>
                    <a:latin typeface="Aptos"/>
                  </a:rPr>
                  <a:t>sous</a:t>
                </a:r>
                <a:r>
                  <a:rPr sz="2800" b="0" dirty="0">
                    <a:solidFill>
                      <a:srgbClr val="5C6F7E"/>
                    </a:solidFill>
                    <a:latin typeface="Aptos"/>
                  </a:rPr>
                  <a:t> </a:t>
                </a:r>
                <a:r>
                  <a:rPr lang="en-US" sz="2800" b="0" dirty="0">
                    <a:solidFill>
                      <a:srgbClr val="5C6F7E"/>
                    </a:solidFill>
                    <a:latin typeface="Aptos"/>
                  </a:rPr>
                  <a:t>ICMP</a:t>
                </a:r>
                <a:endParaRPr sz="2800" b="0" dirty="0">
                  <a:solidFill>
                    <a:srgbClr val="5C6F7E"/>
                  </a:solidFill>
                  <a:latin typeface="Aptos"/>
                </a:endParaRPr>
              </a:p>
            </p:txBody>
          </p:sp>
        </p:grpSp>
        <p:grpSp>
          <p:nvGrpSpPr>
            <p:cNvPr id="152" name="组合 151">
              <a:extLst>
                <a:ext uri="{FF2B5EF4-FFF2-40B4-BE49-F238E27FC236}">
                  <a16:creationId xmlns:a16="http://schemas.microsoft.com/office/drawing/2014/main" id="{327DF11F-1E77-37E1-D5CD-D768E584A720}"/>
                </a:ext>
              </a:extLst>
            </p:cNvPr>
            <p:cNvGrpSpPr/>
            <p:nvPr/>
          </p:nvGrpSpPr>
          <p:grpSpPr>
            <a:xfrm>
              <a:off x="18175053" y="21576700"/>
              <a:ext cx="2651760" cy="1732995"/>
              <a:chOff x="18175053" y="21576700"/>
              <a:chExt cx="2651760" cy="1732995"/>
            </a:xfrm>
          </p:grpSpPr>
          <p:sp>
            <p:nvSpPr>
              <p:cNvPr id="133" name="Rounded Rectangle 59">
                <a:extLst>
                  <a:ext uri="{FF2B5EF4-FFF2-40B4-BE49-F238E27FC236}">
                    <a16:creationId xmlns:a16="http://schemas.microsoft.com/office/drawing/2014/main" id="{CF87354E-E06C-C237-0D56-845AC38B9692}"/>
                  </a:ext>
                </a:extLst>
              </p:cNvPr>
              <p:cNvSpPr/>
              <p:nvPr/>
            </p:nvSpPr>
            <p:spPr>
              <a:xfrm>
                <a:off x="18175053" y="21576700"/>
                <a:ext cx="2159391" cy="1732995"/>
              </a:xfrm>
              <a:prstGeom prst="roundRect">
                <a:avLst/>
              </a:prstGeom>
              <a:solidFill>
                <a:srgbClr val="EEF4FA"/>
              </a:solidFill>
              <a:ln w="12700">
                <a:solidFill>
                  <a:srgbClr val="BF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TextBox 60">
                <a:extLst>
                  <a:ext uri="{FF2B5EF4-FFF2-40B4-BE49-F238E27FC236}">
                    <a16:creationId xmlns:a16="http://schemas.microsoft.com/office/drawing/2014/main" id="{A71CDF66-4A93-25BD-E2ED-39ACC53C3F65}"/>
                  </a:ext>
                </a:extLst>
              </p:cNvPr>
              <p:cNvSpPr txBox="1"/>
              <p:nvPr/>
            </p:nvSpPr>
            <p:spPr>
              <a:xfrm>
                <a:off x="18248205" y="21640709"/>
                <a:ext cx="2505456" cy="477631"/>
              </a:xfrm>
              <a:prstGeom prst="rect">
                <a:avLst/>
              </a:prstGeom>
              <a:noFill/>
            </p:spPr>
            <p:txBody>
              <a:bodyPr wrap="square" lIns="36576" tIns="36576" rIns="36576" bIns="36576" anchor="t">
                <a:spAutoFit/>
              </a:bodyPr>
              <a:lstStyle/>
              <a:p>
                <a:pPr algn="l">
                  <a:lnSpc>
                    <a:spcPct val="115000"/>
                  </a:lnSpc>
                  <a:spcAft>
                    <a:spcPts val="0"/>
                  </a:spcAft>
                </a:pPr>
                <a:r>
                  <a:rPr lang="en-US" sz="2400" b="1" dirty="0">
                    <a:solidFill>
                      <a:srgbClr val="5C6F7E"/>
                    </a:solidFill>
                    <a:latin typeface="Aptos"/>
                  </a:rPr>
                  <a:t>REPRISE</a:t>
                </a:r>
                <a:endParaRPr sz="2400" b="1" dirty="0">
                  <a:solidFill>
                    <a:srgbClr val="5C6F7E"/>
                  </a:solidFill>
                  <a:latin typeface="Aptos"/>
                </a:endParaRPr>
              </a:p>
            </p:txBody>
          </p:sp>
          <p:sp>
            <p:nvSpPr>
              <p:cNvPr id="135" name="TextBox 61">
                <a:extLst>
                  <a:ext uri="{FF2B5EF4-FFF2-40B4-BE49-F238E27FC236}">
                    <a16:creationId xmlns:a16="http://schemas.microsoft.com/office/drawing/2014/main" id="{C1A442E3-1F75-0AA5-999F-A6CE0467F0F4}"/>
                  </a:ext>
                </a:extLst>
              </p:cNvPr>
              <p:cNvSpPr txBox="1"/>
              <p:nvPr/>
            </p:nvSpPr>
            <p:spPr>
              <a:xfrm>
                <a:off x="18248205" y="22084221"/>
                <a:ext cx="1543475" cy="612284"/>
              </a:xfrm>
              <a:prstGeom prst="rect">
                <a:avLst/>
              </a:prstGeom>
              <a:noFill/>
            </p:spPr>
            <p:txBody>
              <a:bodyPr wrap="square" lIns="36576" tIns="36576" rIns="36576" bIns="36576" anchor="t">
                <a:spAutoFit/>
              </a:bodyPr>
              <a:lstStyle/>
              <a:p>
                <a:pPr>
                  <a:lnSpc>
                    <a:spcPct val="115000"/>
                  </a:lnSpc>
                </a:pPr>
                <a:r>
                  <a:rPr lang="zh-CN" altLang="en-US" sz="3200" b="1" dirty="0">
                    <a:solidFill>
                      <a:srgbClr val="243746"/>
                    </a:solidFill>
                    <a:latin typeface="Aptos"/>
                  </a:rPr>
                  <a:t>≈ </a:t>
                </a:r>
                <a:r>
                  <a:rPr lang="en-US" sz="3200" b="1" dirty="0">
                    <a:solidFill>
                      <a:srgbClr val="243746"/>
                    </a:solidFill>
                    <a:latin typeface="Aptos"/>
                  </a:rPr>
                  <a:t>1.87</a:t>
                </a:r>
                <a:r>
                  <a:rPr sz="3200" b="1" dirty="0">
                    <a:solidFill>
                      <a:srgbClr val="243746"/>
                    </a:solidFill>
                    <a:latin typeface="Aptos"/>
                  </a:rPr>
                  <a:t> s</a:t>
                </a:r>
              </a:p>
            </p:txBody>
          </p:sp>
          <p:sp>
            <p:nvSpPr>
              <p:cNvPr id="136" name="TextBox 62">
                <a:extLst>
                  <a:ext uri="{FF2B5EF4-FFF2-40B4-BE49-F238E27FC236}">
                    <a16:creationId xmlns:a16="http://schemas.microsoft.com/office/drawing/2014/main" id="{55E5D52E-82D2-AC21-933A-5C0B84CD8516}"/>
                  </a:ext>
                </a:extLst>
              </p:cNvPr>
              <p:cNvSpPr txBox="1"/>
              <p:nvPr/>
            </p:nvSpPr>
            <p:spPr>
              <a:xfrm>
                <a:off x="18321357" y="22655011"/>
                <a:ext cx="2505456" cy="544957"/>
              </a:xfrm>
              <a:prstGeom prst="rect">
                <a:avLst/>
              </a:prstGeom>
              <a:noFill/>
            </p:spPr>
            <p:txBody>
              <a:bodyPr wrap="square" lIns="36576" tIns="36576" rIns="36576" bIns="36576" anchor="t">
                <a:spAutoFit/>
              </a:bodyPr>
              <a:lstStyle/>
              <a:p>
                <a:pPr algn="l">
                  <a:lnSpc>
                    <a:spcPct val="115000"/>
                  </a:lnSpc>
                  <a:spcAft>
                    <a:spcPts val="0"/>
                  </a:spcAft>
                </a:pPr>
                <a:r>
                  <a:rPr lang="en-US" sz="2800" b="0" dirty="0" err="1">
                    <a:solidFill>
                      <a:srgbClr val="5C6F7E"/>
                    </a:solidFill>
                    <a:latin typeface="Aptos"/>
                  </a:rPr>
                  <a:t>Reste</a:t>
                </a:r>
                <a:r>
                  <a:rPr lang="en-US" sz="2800" b="0" dirty="0">
                    <a:solidFill>
                      <a:srgbClr val="5C6F7E"/>
                    </a:solidFill>
                    <a:latin typeface="Aptos"/>
                  </a:rPr>
                  <a:t> stable</a:t>
                </a:r>
                <a:endParaRPr sz="2800" b="0" dirty="0">
                  <a:solidFill>
                    <a:srgbClr val="5C6F7E"/>
                  </a:solidFill>
                  <a:latin typeface="Aptos"/>
                </a:endParaRPr>
              </a:p>
            </p:txBody>
          </p:sp>
        </p:grpSp>
      </p:grpSp>
      <p:sp>
        <p:nvSpPr>
          <p:cNvPr id="137" name="TextBox 13">
            <a:extLst>
              <a:ext uri="{FF2B5EF4-FFF2-40B4-BE49-F238E27FC236}">
                <a16:creationId xmlns:a16="http://schemas.microsoft.com/office/drawing/2014/main" id="{894DDB47-07C4-21C1-1C18-6126D5FE8FB1}"/>
              </a:ext>
            </a:extLst>
          </p:cNvPr>
          <p:cNvSpPr txBox="1"/>
          <p:nvPr/>
        </p:nvSpPr>
        <p:spPr>
          <a:xfrm>
            <a:off x="21309872" y="14106132"/>
            <a:ext cx="8965340" cy="982385"/>
          </a:xfrm>
          <a:prstGeom prst="rect">
            <a:avLst/>
          </a:prstGeom>
          <a:solidFill>
            <a:schemeClr val="accent4">
              <a:lumMod val="75000"/>
            </a:schemeClr>
          </a:solidFill>
        </p:spPr>
        <p:txBody>
          <a:bodyPr wrap="square" lIns="36576" tIns="36576" rIns="36576" bIns="36576" anchor="t">
            <a:spAutoFit/>
          </a:bodyPr>
          <a:lstStyle/>
          <a:p>
            <a:pPr algn="ctr">
              <a:lnSpc>
                <a:spcPct val="115000"/>
              </a:lnSpc>
              <a:spcAft>
                <a:spcPts val="0"/>
              </a:spcAft>
            </a:pPr>
            <a:r>
              <a:rPr lang="en-US" altLang="zh-CN" sz="5400" b="1" dirty="0">
                <a:solidFill>
                  <a:schemeClr val="bg1"/>
                </a:solidFill>
                <a:latin typeface="Aptos"/>
              </a:rPr>
              <a:t>FLUX DE TRAVAIL</a:t>
            </a:r>
            <a:endParaRPr sz="5400" b="1" dirty="0">
              <a:solidFill>
                <a:schemeClr val="bg1"/>
              </a:solidFill>
              <a:latin typeface="Aptos"/>
            </a:endParaRPr>
          </a:p>
        </p:txBody>
      </p:sp>
      <p:sp>
        <p:nvSpPr>
          <p:cNvPr id="139" name="文本框 138">
            <a:extLst>
              <a:ext uri="{FF2B5EF4-FFF2-40B4-BE49-F238E27FC236}">
                <a16:creationId xmlns:a16="http://schemas.microsoft.com/office/drawing/2014/main" id="{3A914033-F027-68AB-F2A0-8FA049DBD0C8}"/>
              </a:ext>
            </a:extLst>
          </p:cNvPr>
          <p:cNvSpPr txBox="1"/>
          <p:nvPr/>
        </p:nvSpPr>
        <p:spPr>
          <a:xfrm>
            <a:off x="685800" y="22716460"/>
            <a:ext cx="20243863" cy="2062103"/>
          </a:xfrm>
          <a:prstGeom prst="rect">
            <a:avLst/>
          </a:prstGeom>
          <a:noFill/>
        </p:spPr>
        <p:txBody>
          <a:bodyPr wrap="square" rtlCol="0">
            <a:spAutoFit/>
          </a:bodyPr>
          <a:lstStyle/>
          <a:p>
            <a:r>
              <a:rPr lang="fr-FR" altLang="zh-CN" sz="3200" dirty="0"/>
              <a:t>Le résultat le plus robuste est que le trafic de fond allonge nettement le délai de détection, alors que le délai de reprise reste relativement stable.</a:t>
            </a:r>
          </a:p>
          <a:p>
            <a:r>
              <a:rPr lang="fr-FR" altLang="zh-CN" sz="3200" dirty="0"/>
              <a:t>Les scénarios </a:t>
            </a:r>
            <a:r>
              <a:rPr lang="fr-FR" altLang="zh-CN" sz="3200" dirty="0" err="1"/>
              <a:t>link_flap</a:t>
            </a:r>
            <a:r>
              <a:rPr lang="fr-FR" altLang="zh-CN" sz="3200" dirty="0"/>
              <a:t> et </a:t>
            </a:r>
            <a:r>
              <a:rPr lang="fr-FR" altLang="zh-CN" sz="3200" dirty="0" err="1"/>
              <a:t>multi_fault</a:t>
            </a:r>
            <a:r>
              <a:rPr lang="fr-FR" altLang="zh-CN" sz="3200" dirty="0"/>
              <a:t> montrent que le jumeau suit plusieurs transitions successives, avec une variance plus élevée dans les phases tardives.</a:t>
            </a:r>
            <a:endParaRPr kumimoji="1" lang="zh-CN" altLang="en-US" sz="3200" dirty="0"/>
          </a:p>
        </p:txBody>
      </p:sp>
      <p:sp>
        <p:nvSpPr>
          <p:cNvPr id="141" name="Rounded Rectangle 11">
            <a:extLst>
              <a:ext uri="{FF2B5EF4-FFF2-40B4-BE49-F238E27FC236}">
                <a16:creationId xmlns:a16="http://schemas.microsoft.com/office/drawing/2014/main" id="{043ECC75-499A-39C4-9272-BA710E0AE567}"/>
              </a:ext>
            </a:extLst>
          </p:cNvPr>
          <p:cNvSpPr/>
          <p:nvPr/>
        </p:nvSpPr>
        <p:spPr>
          <a:xfrm>
            <a:off x="40615" y="15210262"/>
            <a:ext cx="20425063" cy="9817442"/>
          </a:xfrm>
          <a:prstGeom prst="roundRect">
            <a:avLst/>
          </a:prstGeom>
          <a:noFill/>
          <a:ln w="12700">
            <a:solidFill>
              <a:srgbClr val="C7D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3" name="图片 142">
            <a:extLst>
              <a:ext uri="{FF2B5EF4-FFF2-40B4-BE49-F238E27FC236}">
                <a16:creationId xmlns:a16="http://schemas.microsoft.com/office/drawing/2014/main" id="{3B335779-BAA7-3977-E795-B37D225E3C48}"/>
              </a:ext>
            </a:extLst>
          </p:cNvPr>
          <p:cNvPicPr>
            <a:picLocks noChangeAspect="1"/>
          </p:cNvPicPr>
          <p:nvPr/>
        </p:nvPicPr>
        <p:blipFill>
          <a:blip r:embed="rId6"/>
          <a:stretch>
            <a:fillRect/>
          </a:stretch>
        </p:blipFill>
        <p:spPr>
          <a:xfrm>
            <a:off x="20929663" y="15499110"/>
            <a:ext cx="9610559" cy="9528767"/>
          </a:xfrm>
          <a:prstGeom prst="rect">
            <a:avLst/>
          </a:prstGeom>
        </p:spPr>
      </p:pic>
      <p:sp>
        <p:nvSpPr>
          <p:cNvPr id="146" name="TextBox 13">
            <a:extLst>
              <a:ext uri="{FF2B5EF4-FFF2-40B4-BE49-F238E27FC236}">
                <a16:creationId xmlns:a16="http://schemas.microsoft.com/office/drawing/2014/main" id="{7AAD5D46-EB54-B072-1E69-899259DB8945}"/>
              </a:ext>
            </a:extLst>
          </p:cNvPr>
          <p:cNvSpPr txBox="1"/>
          <p:nvPr/>
        </p:nvSpPr>
        <p:spPr>
          <a:xfrm>
            <a:off x="-868" y="25299177"/>
            <a:ext cx="30289634" cy="904863"/>
          </a:xfrm>
          <a:prstGeom prst="rect">
            <a:avLst/>
          </a:prstGeom>
          <a:solidFill>
            <a:schemeClr val="accent4">
              <a:lumMod val="75000"/>
            </a:schemeClr>
          </a:solidFill>
        </p:spPr>
        <p:txBody>
          <a:bodyPr wrap="square" lIns="36576" tIns="36576" rIns="36576" bIns="36576" anchor="t">
            <a:spAutoFit/>
          </a:bodyPr>
          <a:lstStyle/>
          <a:p>
            <a:pPr algn="ctr"/>
            <a:r>
              <a:rPr lang="fr-FR" altLang="zh-CN" sz="5400" b="1" dirty="0">
                <a:solidFill>
                  <a:schemeClr val="bg1"/>
                </a:solidFill>
                <a:latin typeface="Aptos" panose="020B0004020202020204" pitchFamily="34" charset="0"/>
              </a:rPr>
              <a:t>RÉSULTATS COMPLÉMENTAIRE : EFFET DU POLLING</a:t>
            </a:r>
            <a:r>
              <a:rPr lang="zh-CN" altLang="en-US" sz="5400" b="1" dirty="0">
                <a:solidFill>
                  <a:schemeClr val="bg1"/>
                </a:solidFill>
                <a:latin typeface="Aptos" panose="020B0004020202020204" pitchFamily="34" charset="0"/>
              </a:rPr>
              <a:t> </a:t>
            </a:r>
            <a:r>
              <a:rPr lang="en-US" altLang="zh-CN" sz="5400" b="1" dirty="0">
                <a:solidFill>
                  <a:schemeClr val="bg1"/>
                </a:solidFill>
                <a:latin typeface="Aptos" panose="020B0004020202020204" pitchFamily="34" charset="0"/>
              </a:rPr>
              <a:t>ET</a:t>
            </a:r>
            <a:r>
              <a:rPr lang="zh-CN" altLang="en-US" sz="5400" b="1" dirty="0">
                <a:solidFill>
                  <a:schemeClr val="bg1"/>
                </a:solidFill>
                <a:latin typeface="Aptos" panose="020B0004020202020204" pitchFamily="34" charset="0"/>
              </a:rPr>
              <a:t> </a:t>
            </a:r>
            <a:r>
              <a:rPr lang="en-US" altLang="zh-CN" sz="5400" b="1" dirty="0">
                <a:solidFill>
                  <a:schemeClr val="bg1"/>
                </a:solidFill>
                <a:latin typeface="Aptos" panose="020B0004020202020204" pitchFamily="34" charset="0"/>
              </a:rPr>
              <a:t>INTER-TOPOLOGIES</a:t>
            </a:r>
            <a:endParaRPr lang="fr-FR" altLang="zh-CN" sz="5400" b="1" dirty="0">
              <a:solidFill>
                <a:schemeClr val="bg1"/>
              </a:solidFill>
              <a:latin typeface="Aptos" panose="020B0004020202020204" pitchFamily="34" charset="0"/>
            </a:endParaRPr>
          </a:p>
        </p:txBody>
      </p:sp>
      <p:pic>
        <p:nvPicPr>
          <p:cNvPr id="148" name="图片 147">
            <a:extLst>
              <a:ext uri="{FF2B5EF4-FFF2-40B4-BE49-F238E27FC236}">
                <a16:creationId xmlns:a16="http://schemas.microsoft.com/office/drawing/2014/main" id="{4686830F-BF4F-3B67-C503-86806AD0E6E6}"/>
              </a:ext>
            </a:extLst>
          </p:cNvPr>
          <p:cNvPicPr>
            <a:picLocks noChangeAspect="1"/>
          </p:cNvPicPr>
          <p:nvPr/>
        </p:nvPicPr>
        <p:blipFill>
          <a:blip r:embed="rId7"/>
          <a:stretch>
            <a:fillRect/>
          </a:stretch>
        </p:blipFill>
        <p:spPr>
          <a:xfrm>
            <a:off x="-869" y="26200517"/>
            <a:ext cx="14859516" cy="7429758"/>
          </a:xfrm>
          <a:prstGeom prst="rect">
            <a:avLst/>
          </a:prstGeom>
        </p:spPr>
      </p:pic>
      <p:sp>
        <p:nvSpPr>
          <p:cNvPr id="149" name="文本框 148">
            <a:extLst>
              <a:ext uri="{FF2B5EF4-FFF2-40B4-BE49-F238E27FC236}">
                <a16:creationId xmlns:a16="http://schemas.microsoft.com/office/drawing/2014/main" id="{47AE35CF-806A-9CF5-95A5-D9C2B2C039BB}"/>
              </a:ext>
            </a:extLst>
          </p:cNvPr>
          <p:cNvSpPr txBox="1"/>
          <p:nvPr/>
        </p:nvSpPr>
        <p:spPr>
          <a:xfrm>
            <a:off x="711277" y="33733697"/>
            <a:ext cx="14147074" cy="584775"/>
          </a:xfrm>
          <a:prstGeom prst="rect">
            <a:avLst/>
          </a:prstGeom>
          <a:noFill/>
        </p:spPr>
        <p:txBody>
          <a:bodyPr wrap="square" rtlCol="0">
            <a:spAutoFit/>
          </a:bodyPr>
          <a:lstStyle/>
          <a:p>
            <a:r>
              <a:rPr lang="fr-FR" altLang="zh-CN" sz="3200" dirty="0"/>
              <a:t>Plus l'intervalle de polling est long, plus la reprise est confirmée tardivement.</a:t>
            </a:r>
            <a:endParaRPr kumimoji="1" lang="zh-CN" altLang="en-US" sz="3200" dirty="0"/>
          </a:p>
        </p:txBody>
      </p:sp>
      <p:pic>
        <p:nvPicPr>
          <p:cNvPr id="160" name="图片 159">
            <a:extLst>
              <a:ext uri="{FF2B5EF4-FFF2-40B4-BE49-F238E27FC236}">
                <a16:creationId xmlns:a16="http://schemas.microsoft.com/office/drawing/2014/main" id="{EE1B3735-2743-7F1D-D21A-2B2D218A37A4}"/>
              </a:ext>
            </a:extLst>
          </p:cNvPr>
          <p:cNvPicPr>
            <a:picLocks noChangeAspect="1"/>
          </p:cNvPicPr>
          <p:nvPr/>
        </p:nvPicPr>
        <p:blipFill>
          <a:blip r:embed="rId8"/>
          <a:stretch>
            <a:fillRect/>
          </a:stretch>
        </p:blipFill>
        <p:spPr>
          <a:xfrm>
            <a:off x="18871676" y="35703716"/>
            <a:ext cx="11362922" cy="6372608"/>
          </a:xfrm>
          <a:prstGeom prst="rect">
            <a:avLst/>
          </a:prstGeom>
        </p:spPr>
      </p:pic>
      <p:sp>
        <p:nvSpPr>
          <p:cNvPr id="161" name="TextBox 13">
            <a:extLst>
              <a:ext uri="{FF2B5EF4-FFF2-40B4-BE49-F238E27FC236}">
                <a16:creationId xmlns:a16="http://schemas.microsoft.com/office/drawing/2014/main" id="{6331A09C-D197-5477-05AF-0F31DA65B133}"/>
              </a:ext>
            </a:extLst>
          </p:cNvPr>
          <p:cNvSpPr txBox="1"/>
          <p:nvPr/>
        </p:nvSpPr>
        <p:spPr>
          <a:xfrm>
            <a:off x="-870" y="34288643"/>
            <a:ext cx="18831061" cy="982385"/>
          </a:xfrm>
          <a:prstGeom prst="rect">
            <a:avLst/>
          </a:prstGeom>
          <a:solidFill>
            <a:schemeClr val="accent4">
              <a:lumMod val="75000"/>
            </a:schemeClr>
          </a:solidFill>
        </p:spPr>
        <p:txBody>
          <a:bodyPr wrap="square" lIns="36576" tIns="36576" rIns="36576" bIns="36576" anchor="t">
            <a:spAutoFit/>
          </a:bodyPr>
          <a:lstStyle/>
          <a:p>
            <a:pPr algn="ctr">
              <a:lnSpc>
                <a:spcPct val="115000"/>
              </a:lnSpc>
              <a:spcAft>
                <a:spcPts val="0"/>
              </a:spcAft>
            </a:pPr>
            <a:r>
              <a:rPr lang="en-US" sz="5400" b="1" u="sng" dirty="0">
                <a:solidFill>
                  <a:schemeClr val="bg1"/>
                </a:solidFill>
                <a:latin typeface="Aptos"/>
              </a:rPr>
              <a:t>CONCLUSION</a:t>
            </a:r>
            <a:endParaRPr sz="5400" b="1" u="sng" dirty="0">
              <a:solidFill>
                <a:schemeClr val="bg1"/>
              </a:solidFill>
              <a:latin typeface="Aptos"/>
            </a:endParaRPr>
          </a:p>
        </p:txBody>
      </p:sp>
      <p:sp>
        <p:nvSpPr>
          <p:cNvPr id="162" name="Rounded Rectangle 11">
            <a:extLst>
              <a:ext uri="{FF2B5EF4-FFF2-40B4-BE49-F238E27FC236}">
                <a16:creationId xmlns:a16="http://schemas.microsoft.com/office/drawing/2014/main" id="{93F1681C-258C-C26F-8505-598753BFCBAC}"/>
              </a:ext>
            </a:extLst>
          </p:cNvPr>
          <p:cNvSpPr/>
          <p:nvPr/>
        </p:nvSpPr>
        <p:spPr>
          <a:xfrm>
            <a:off x="40614" y="35431257"/>
            <a:ext cx="18831061" cy="6645067"/>
          </a:xfrm>
          <a:prstGeom prst="roundRect">
            <a:avLst/>
          </a:prstGeom>
          <a:noFill/>
          <a:ln w="12700">
            <a:solidFill>
              <a:srgbClr val="C7D0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3" name="TextBox 14">
            <a:extLst>
              <a:ext uri="{FF2B5EF4-FFF2-40B4-BE49-F238E27FC236}">
                <a16:creationId xmlns:a16="http://schemas.microsoft.com/office/drawing/2014/main" id="{CBEBB75D-29D4-CE15-8421-7FBD1AFCCB68}"/>
              </a:ext>
            </a:extLst>
          </p:cNvPr>
          <p:cNvSpPr txBox="1"/>
          <p:nvPr/>
        </p:nvSpPr>
        <p:spPr>
          <a:xfrm>
            <a:off x="395821" y="35681001"/>
            <a:ext cx="18475854" cy="6721840"/>
          </a:xfrm>
          <a:prstGeom prst="rect">
            <a:avLst/>
          </a:prstGeom>
          <a:noFill/>
        </p:spPr>
        <p:txBody>
          <a:bodyPr wrap="square" lIns="36576" tIns="36576" rIns="36576" bIns="36576" anchor="t">
            <a:spAutoFit/>
          </a:bodyPr>
          <a:lstStyle/>
          <a:p>
            <a:r>
              <a:rPr lang="fr-FR" altLang="zh-CN" sz="3600" dirty="0"/>
              <a:t>Les analyses complémentaires confirment les tendances observées dans la matrice principale.</a:t>
            </a:r>
          </a:p>
          <a:p>
            <a:pPr marL="571500" indent="-571500">
              <a:buFont typeface="Arial" panose="020B0604020202020204" pitchFamily="34" charset="0"/>
              <a:buChar char="•"/>
            </a:pPr>
            <a:r>
              <a:rPr lang="fr-FR" altLang="zh-CN" sz="3600" dirty="0"/>
              <a:t>Le jumeau numérique détecte de manière fiable les pannes et les reprises de lien dans les scénarios étudiés.</a:t>
            </a:r>
          </a:p>
          <a:p>
            <a:pPr marL="571500" indent="-571500">
              <a:buFont typeface="Arial" panose="020B0604020202020204" pitchFamily="34" charset="0"/>
              <a:buChar char="•"/>
            </a:pPr>
            <a:r>
              <a:rPr lang="fr-FR" altLang="zh-CN" sz="3600" dirty="0"/>
              <a:t>Les délais de détection restent faibles dans la matrice principale, tandis que le délai de reprise du scénario de rétablissement reste proche de 1.8-1.9 s.</a:t>
            </a:r>
          </a:p>
          <a:p>
            <a:pPr marL="571500" indent="-571500">
              <a:buFont typeface="Arial" panose="020B0604020202020204" pitchFamily="34" charset="0"/>
              <a:buChar char="•"/>
            </a:pPr>
            <a:r>
              <a:rPr lang="fr-FR" altLang="zh-CN" sz="3600" dirty="0"/>
              <a:t>Le trafic de fond augmente nettement le délai de détection.</a:t>
            </a:r>
          </a:p>
          <a:p>
            <a:pPr marL="571500" indent="-571500">
              <a:buFont typeface="Arial" panose="020B0604020202020204" pitchFamily="34" charset="0"/>
              <a:buChar char="•"/>
            </a:pPr>
            <a:r>
              <a:rPr lang="fr-FR" altLang="zh-CN" sz="3600" dirty="0"/>
              <a:t>Le système conserve sa capacité de suivi dans des scénarios à événements successifs ou multiples.</a:t>
            </a:r>
          </a:p>
          <a:p>
            <a:pPr marL="571500" indent="-571500">
              <a:buFont typeface="Arial" panose="020B0604020202020204" pitchFamily="34" charset="0"/>
              <a:buChar char="•"/>
            </a:pPr>
            <a:r>
              <a:rPr lang="fr-FR" altLang="zh-CN" sz="3600" dirty="0"/>
              <a:t>L'augmentation de l'intervalle de polling ralentit la reprise ; ce résultat constitue une tendance complémentaire issue d'un effectif plus faible.</a:t>
            </a:r>
          </a:p>
          <a:p>
            <a:pPr marL="571500" indent="-571500">
              <a:buFont typeface="Arial" panose="020B0604020202020204" pitchFamily="34" charset="0"/>
              <a:buChar char="•"/>
            </a:pPr>
            <a:r>
              <a:rPr lang="fr-FR" altLang="zh-CN" sz="3600" b="1" dirty="0"/>
              <a:t>Le système distingue correctement une panne physique d'un défaut d'observation.</a:t>
            </a:r>
          </a:p>
          <a:p>
            <a:pPr marL="457200" indent="-457200">
              <a:buFont typeface="Arial" panose="020B0604020202020204" pitchFamily="34" charset="0"/>
              <a:buChar char="•"/>
            </a:pPr>
            <a:endParaRPr lang="fr-FR" altLang="zh-CN" sz="3600" dirty="0"/>
          </a:p>
        </p:txBody>
      </p:sp>
      <p:pic>
        <p:nvPicPr>
          <p:cNvPr id="165" name="图片 164">
            <a:extLst>
              <a:ext uri="{FF2B5EF4-FFF2-40B4-BE49-F238E27FC236}">
                <a16:creationId xmlns:a16="http://schemas.microsoft.com/office/drawing/2014/main" id="{26DC46A9-9AEF-9A6B-BA19-7618910B5E0E}"/>
              </a:ext>
            </a:extLst>
          </p:cNvPr>
          <p:cNvPicPr>
            <a:picLocks noChangeAspect="1"/>
          </p:cNvPicPr>
          <p:nvPr/>
        </p:nvPicPr>
        <p:blipFill>
          <a:blip r:embed="rId9"/>
          <a:stretch>
            <a:fillRect/>
          </a:stretch>
        </p:blipFill>
        <p:spPr>
          <a:xfrm>
            <a:off x="15415994" y="26281562"/>
            <a:ext cx="14482114" cy="7422306"/>
          </a:xfrm>
          <a:prstGeom prst="rect">
            <a:avLst/>
          </a:prstGeom>
        </p:spPr>
      </p:pic>
      <p:sp>
        <p:nvSpPr>
          <p:cNvPr id="166" name="文本框 165">
            <a:extLst>
              <a:ext uri="{FF2B5EF4-FFF2-40B4-BE49-F238E27FC236}">
                <a16:creationId xmlns:a16="http://schemas.microsoft.com/office/drawing/2014/main" id="{131C41F6-B89D-D37F-6CBA-49E25E1EEBB3}"/>
              </a:ext>
            </a:extLst>
          </p:cNvPr>
          <p:cNvSpPr txBox="1"/>
          <p:nvPr/>
        </p:nvSpPr>
        <p:spPr>
          <a:xfrm>
            <a:off x="14538959" y="33716650"/>
            <a:ext cx="15749807" cy="584775"/>
          </a:xfrm>
          <a:prstGeom prst="rect">
            <a:avLst/>
          </a:prstGeom>
          <a:noFill/>
        </p:spPr>
        <p:txBody>
          <a:bodyPr wrap="square" rtlCol="0">
            <a:spAutoFit/>
          </a:bodyPr>
          <a:lstStyle/>
          <a:p>
            <a:r>
              <a:rPr lang="fr-FR" altLang="zh-CN" sz="3200" dirty="0"/>
              <a:t>Une topologie plus complexe entraîne une augmentation des délais de détection et de reprise.</a:t>
            </a:r>
          </a:p>
        </p:txBody>
      </p:sp>
    </p:spTree>
    <p:extLst>
      <p:ext uri="{BB962C8B-B14F-4D97-AF65-F5344CB8AC3E}">
        <p14:creationId xmlns:p14="http://schemas.microsoft.com/office/powerpoint/2010/main" val="37284565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136</TotalTime>
  <Words>373</Words>
  <Application>Microsoft Macintosh PowerPoint</Application>
  <PresentationFormat>自定义</PresentationFormat>
  <Paragraphs>39</Paragraphs>
  <Slides>1</Slides>
  <Notes>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vt:i4>
      </vt:variant>
    </vt:vector>
  </HeadingPairs>
  <TitlesOfParts>
    <vt:vector size="6" baseType="lpstr">
      <vt:lpstr>等线</vt:lpstr>
      <vt:lpstr>Aptos</vt:lpstr>
      <vt:lpstr>Arial</vt:lpstr>
      <vt:lpstr>Calibri</vt:lpstr>
      <vt:lpstr>Office Theme</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陈 雨萌</cp:lastModifiedBy>
  <cp:revision>3</cp:revision>
  <cp:lastPrinted>2026-04-24T13:59:39Z</cp:lastPrinted>
  <dcterms:created xsi:type="dcterms:W3CDTF">2013-01-27T09:14:16Z</dcterms:created>
  <dcterms:modified xsi:type="dcterms:W3CDTF">2026-04-24T14:13:59Z</dcterms:modified>
  <cp:category/>
</cp:coreProperties>
</file>